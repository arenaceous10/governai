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20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17556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"/>
            <a:ext cx="69494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DBA74"/>
                </a:solidFill>
                <a:latin typeface="Aptos"/>
              </a:rPr>
              <a:t>AI INVENTORY  /  RISK  / 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84632"/>
            <a:ext cx="80467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AI Use-Case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33271"/>
            <a:ext cx="7909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4E9EC"/>
                </a:solidFill>
                <a:latin typeface="Aptos"/>
              </a:rPr>
              <a:t>Catalogue AI use cases, classify risk transparently, and manage governance through the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420624"/>
            <a:ext cx="2267712" cy="786384"/>
          </a:xfrm>
          <a:prstGeom prst="roundRect">
            <a:avLst>
              <a:gd name="adj" fmla="val 8000"/>
            </a:avLst>
          </a:prstGeom>
          <a:solidFill>
            <a:srgbClr val="334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502920"/>
            <a:ext cx="1993392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MODEL + USE CASE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OVERSIGHT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01952"/>
            <a:ext cx="72694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2933"/>
                </a:solidFill>
                <a:latin typeface="Aptos Display"/>
              </a:rPr>
              <a:t>One workflow. Clear ownership.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63931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" y="24963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496312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2410C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2450592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Aptos"/>
              </a:rPr>
              <a:t>AI portfolio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2734056"/>
            <a:ext cx="2834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86672"/>
                </a:solidFill>
                <a:latin typeface="Aptos"/>
              </a:rPr>
              <a:t>Capture purpose, owner, model or provider, data, domain, and operating regions.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40864"/>
            <a:ext cx="363931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24963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496312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2410C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50592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Aptos"/>
              </a:rPr>
              <a:t>Transparent risk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34056"/>
            <a:ext cx="2834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86672"/>
                </a:solidFill>
                <a:latin typeface="Aptos"/>
              </a:rPr>
              <a:t>Weighted 0-100 assessment, risk tier, and documented reasons. The tier is rule-based.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29000"/>
            <a:ext cx="363931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" y="358444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3584448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2410C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5" y="3538728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Aptos"/>
              </a:rPr>
              <a:t>Regulatory 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5" y="3822191"/>
            <a:ext cx="2834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86672"/>
                </a:solidFill>
                <a:latin typeface="Aptos"/>
              </a:rPr>
              <a:t>Select applicable laws and frameworks, retrieve relevant clauses, and optionally use Gemini for a screening summary.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429000"/>
            <a:ext cx="363931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358444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584448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2410C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538728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Aptos"/>
              </a:rPr>
              <a:t>Lifecycle stage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822191"/>
            <a:ext cx="2834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86672"/>
                </a:solidFill>
                <a:latin typeface="Aptos"/>
              </a:rPr>
              <a:t>Ten stages with checklists and tier-based reviewer approvals before progressing.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517136"/>
            <a:ext cx="363931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2376" y="467258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4672584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2410C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5" y="4626864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Aptos"/>
              </a:rPr>
              <a:t>Ongoing oversight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5" y="4910328"/>
            <a:ext cx="2834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86672"/>
                </a:solidFill>
                <a:latin typeface="Aptos"/>
              </a:rPr>
              <a:t>Track actions, material changes, incidents, periodic reviews, and overdue alerts.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4517136"/>
            <a:ext cx="363931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26280" y="467258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4672584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2410C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626864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Aptos"/>
              </a:rPr>
              <a:t>Portfolio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10328"/>
            <a:ext cx="2834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86672"/>
                </a:solidFill>
                <a:latin typeface="Aptos"/>
              </a:rPr>
              <a:t>Explore risk, lifecycle, and regulatory coverage; export the register to Excel and assessments to HTML.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47888" y="2340864"/>
            <a:ext cx="3364992" cy="3118104"/>
          </a:xfrm>
          <a:prstGeom prst="roundRect">
            <a:avLst>
              <a:gd name="adj" fmla="val 8000"/>
            </a:avLst>
          </a:prstGeom>
          <a:solidFill>
            <a:srgbClr val="20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2542032"/>
            <a:ext cx="285292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DBA74"/>
                </a:solidFill>
                <a:latin typeface="Aptos"/>
              </a:rPr>
              <a:t>LIFECYCLE 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834640"/>
            <a:ext cx="28346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From intake to oversight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13064" y="3387852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13064" y="338785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355848"/>
            <a:ext cx="242316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Register the use case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13064" y="3744468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13064" y="3744468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712463"/>
            <a:ext cx="242316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ptos"/>
              </a:rPr>
              <a:t>Assess and classify risk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13064" y="4101084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13064" y="4101084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4069080"/>
            <a:ext cx="242316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ptos"/>
              </a:rPr>
              <a:t>Screen laws and frameworks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13064" y="4457700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13064" y="4457700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425696"/>
            <a:ext cx="242316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ptos"/>
              </a:rPr>
              <a:t>Complete reviews and gates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13064" y="4814316"/>
            <a:ext cx="228600" cy="2286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13064" y="4814316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4782312"/>
            <a:ext cx="242316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ptos"/>
              </a:rPr>
              <a:t>Monitor, manage change, retire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5733288"/>
            <a:ext cx="11045952" cy="530352"/>
          </a:xfrm>
          <a:prstGeom prst="roundRect">
            <a:avLst>
              <a:gd name="adj" fmla="val 8000"/>
            </a:avLst>
          </a:prstGeom>
          <a:solidFill>
            <a:srgbClr val="E8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5806440"/>
            <a:ext cx="13716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2410C"/>
                </a:solidFill>
                <a:latin typeface="Aptos"/>
              </a:rPr>
              <a:t>THE 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5797296"/>
            <a:ext cx="9281160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3"/>
                </a:solidFill>
                <a:latin typeface="Aptos"/>
              </a:rPr>
              <a:t>A searchable inventory, visible risk signals, and traceable governance decisions in one place.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216" y="6419088"/>
            <a:ext cx="109728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672"/>
                </a:solidFill>
                <a:latin typeface="Aptos"/>
              </a:rPr>
              <a:t>AI-assisted screening is not legal advice. Confirm applicability and obligations with qualified counsel.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